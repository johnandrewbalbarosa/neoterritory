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CodiNeo</a:t>
            </a:r>
          </a:p>
          <a:p>
            <a:r>
              <a:rPr sz="2000">
                <a:solidFill>
                  <a:srgbClr val="C8D0DC"/>
                </a:solidFill>
                <a:latin typeface="Calibri"/>
              </a:rPr>
              <a:t>A Documentation Generation System Using</a:t>
            </a:r>
          </a:p>
          <a:p>
            <a:r>
              <a:rPr sz="2000" i="1">
                <a:solidFill>
                  <a:srgbClr val="FFFFFF"/>
                </a:solidFill>
                <a:latin typeface="Calibri"/>
              </a:rPr>
              <a:t>Hash-Based Virtual Structural Copy Algorithm for Design Pattern Learning in DEVCON Luzon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:lvl="0"/>
          </a:p>
          <a:p>
            <a:r>
              <a:rPr sz="1400" b="1">
                <a:solidFill>
                  <a:srgbClr val="4F9CF5"/>
                </a:solidFill>
                <a:latin typeface="Calibri"/>
              </a:rPr>
              <a:t>Researchers:  </a:t>
            </a:r>
            <a:r>
              <a:rPr sz="1400">
                <a:solidFill>
                  <a:srgbClr val="FFFFFF"/>
                </a:solidFill>
                <a:latin typeface="Calibri"/>
              </a:rPr>
              <a:t>Balbarosa, J. A.  |  De Leon, M. Z.  |  Santander, J. J.</a:t>
            </a:r>
          </a:p>
          <a:p>
            <a:r>
              <a:rPr sz="1400" b="1">
                <a:solidFill>
                  <a:srgbClr val="4F9CF5"/>
                </a:solidFill>
                <a:latin typeface="Calibri"/>
              </a:rPr>
              <a:t>Institution:  </a:t>
            </a:r>
            <a:r>
              <a:rPr sz="1400">
                <a:solidFill>
                  <a:srgbClr val="FFFFFF"/>
                </a:solidFill>
                <a:latin typeface="Calibri"/>
              </a:rPr>
              <a:t>FEU Institute of Technology — Bachelor of Science in Computer Science</a:t>
            </a:r>
          </a:p>
          <a:p>
            <a:r>
              <a:rPr sz="1400" b="1">
                <a:solidFill>
                  <a:srgbClr val="4F9CF5"/>
                </a:solidFill>
                <a:latin typeface="Calibri"/>
              </a:rPr>
              <a:t>Defense:  </a:t>
            </a:r>
            <a:r>
              <a:rPr sz="1400">
                <a:solidFill>
                  <a:srgbClr val="FFFFFF"/>
                </a:solidFill>
                <a:latin typeface="Calibri"/>
              </a:rPr>
              <a:t>Thesis 3 Defense</a:t>
            </a:r>
          </a:p>
          <a:p>
            <a:r>
              <a:rPr sz="1400" b="1">
                <a:solidFill>
                  <a:srgbClr val="4F9CF5"/>
                </a:solidFill>
                <a:latin typeface="Calibri"/>
              </a:rPr>
              <a:t>Date:  </a:t>
            </a:r>
            <a:r>
              <a:rPr sz="140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Statement of the Problem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1 — Section 1.3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General problem: </a:t>
            </a:r>
            <a:r>
              <a:rPr sz="1600">
                <a:solidFill>
                  <a:srgbClr val="202836"/>
                </a:solidFill>
                <a:latin typeface="Calibri"/>
              </a:rPr>
              <a:t>Novice C++ developers in collaborative, learning-oriented environments such as DEVCON Luzon struggle to recognise software design patterns inside real source code, and existing tools either skip the structural evidence or emit ungrounded LLM narration.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Specific problem 1: </a:t>
            </a:r>
            <a:r>
              <a:rPr sz="1600">
                <a:solidFill>
                  <a:srgbClr val="202836"/>
                </a:solidFill>
                <a:latin typeface="Calibri"/>
              </a:rPr>
              <a:t>Static-analysis tools surface raw findings without binding them to the design-pattern concept the learner is studying.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Specific problem 2: </a:t>
            </a:r>
            <a:r>
              <a:rPr sz="1600">
                <a:solidFill>
                  <a:srgbClr val="202836"/>
                </a:solidFill>
                <a:latin typeface="Calibri"/>
              </a:rPr>
              <a:t>AI-driven coding assistants generate fluent prose that is not anchored to the actual structure of the submitted code, leading to documentation drift.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Specific problem 3: </a:t>
            </a:r>
            <a:r>
              <a:rPr sz="1600">
                <a:solidFill>
                  <a:srgbClr val="202836"/>
                </a:solidFill>
                <a:latin typeface="Calibri"/>
              </a:rPr>
              <a:t>Existing pattern-detection research is not packaged as a teachable workflow that a student can submit code to and immediately read back evidence-bound explanations.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Specific problem 4: </a:t>
            </a:r>
            <a:r>
              <a:rPr sz="1600">
                <a:solidFill>
                  <a:srgbClr val="202836"/>
                </a:solidFill>
                <a:latin typeface="Calibri"/>
              </a:rPr>
              <a:t>There is no reproducible, evaluation-ready C++ detector that exposes its verdicts, evidence, complexity, and confusion-matrix metrics for academic study within the Philippine collegiate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Objectives of the Study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1 — Section 1.4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General: </a:t>
            </a:r>
            <a:r>
              <a:rPr sz="1600">
                <a:solidFill>
                  <a:srgbClr val="202836"/>
                </a:solidFill>
                <a:latin typeface="Calibri"/>
              </a:rPr>
              <a:t>To design, implement, and evaluate CodiNeo as a documentation-generation system that uses a Hash-Based Virtual Structural Copy algorithm to support design-pattern learning for novice C++ developers in DEVCON Luzon.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Specific 1: </a:t>
            </a:r>
            <a:r>
              <a:rPr sz="1600">
                <a:solidFill>
                  <a:srgbClr val="202836"/>
                </a:solidFill>
                <a:latin typeface="Calibri"/>
              </a:rPr>
              <a:t>Construct a deterministic C++ microservice that performs lexical scan, virtual structural-copy construction, pattern dispatch, evidence binding, and hash-and-link analysis.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Specific 2: </a:t>
            </a:r>
            <a:r>
              <a:rPr sz="1600">
                <a:solidFill>
                  <a:srgbClr val="202836"/>
                </a:solidFill>
                <a:latin typeface="Calibri"/>
              </a:rPr>
              <a:t>Pair every detected verdict with a documentation-oriented explanation and a pre-templated unit-test scaffold drawn from the pattern catalog.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Specific 3: </a:t>
            </a:r>
            <a:r>
              <a:rPr sz="1600">
                <a:solidFill>
                  <a:srgbClr val="202836"/>
                </a:solidFill>
                <a:latin typeface="Calibri"/>
              </a:rPr>
              <a:t>Provide a learner-to-developer pathway through which DEVCON Luzon interns can study a pattern module and then exercise the studio against their own C++ artefacts.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Specific 4: </a:t>
            </a:r>
            <a:r>
              <a:rPr sz="1600">
                <a:solidFill>
                  <a:srgbClr val="202836"/>
                </a:solidFill>
                <a:latin typeface="Calibri"/>
              </a:rPr>
              <a:t>Evaluate CodiNeo against the ISO/IEC 25010 quality model, against KPI-based technical metrics, and against confusion-matrix accuracy for the supported pattern catalog.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Specific 5: </a:t>
            </a:r>
            <a:r>
              <a:rPr sz="1600">
                <a:solidFill>
                  <a:srgbClr val="202836"/>
                </a:solidFill>
                <a:latin typeface="Calibri"/>
              </a:rPr>
              <a:t>Verify the algorithm's time- and space-complexity claims independently through an algorithm evaluator and a research statistician.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Scope and Limitations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1 — Section 1.7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F9CF5"/>
                </a:solidFill>
                <a:latin typeface="Calibri"/>
              </a:rPr>
              <a:t>In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Class-level C++ analysis. </a:t>
            </a:r>
            <a:r>
              <a:rPr sz="1400">
                <a:solidFill>
                  <a:srgbClr val="202836"/>
                </a:solidFill>
                <a:latin typeface="Calibri"/>
              </a:rPr>
              <a:t>Complete class and struct declarations.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Supported pattern catalog. </a:t>
            </a:r>
            <a:r>
              <a:rPr sz="1400">
                <a:solidFill>
                  <a:srgbClr val="202836"/>
                </a:solidFill>
                <a:latin typeface="Calibri"/>
              </a:rPr>
              <a:t>Only patterns shipped with the prototype.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Two pathways. </a:t>
            </a:r>
            <a:r>
              <a:rPr sz="1400">
                <a:solidFill>
                  <a:srgbClr val="202836"/>
                </a:solidFill>
                <a:latin typeface="Calibri"/>
              </a:rPr>
              <a:t>Learner modules + Developer Studio.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DEVCON Luzon cohort. </a:t>
            </a:r>
            <a:r>
              <a:rPr sz="1400">
                <a:solidFill>
                  <a:srgbClr val="202836"/>
                </a:solidFill>
                <a:latin typeface="Calibri"/>
              </a:rPr>
              <a:t>Internship-context evaluation.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Documentation outputs. </a:t>
            </a:r>
            <a:r>
              <a:rPr sz="1400">
                <a:solidFill>
                  <a:srgbClr val="202836"/>
                </a:solidFill>
                <a:latin typeface="Calibri"/>
              </a:rPr>
              <a:t>Anchored to bound structural evidence.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Templated unit tests. </a:t>
            </a:r>
            <a:r>
              <a:rPr sz="1400">
                <a:solidFill>
                  <a:srgbClr val="202836"/>
                </a:solidFill>
                <a:latin typeface="Calibri"/>
              </a:rPr>
              <a:t>GoogleTest scaffolds per pattern.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F9CF5"/>
                </a:solidFill>
                <a:latin typeface="Calibri"/>
              </a:rPr>
              <a:t>Out of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Function- or file-only analysis. </a:t>
            </a:r>
            <a:r>
              <a:rPr sz="1400">
                <a:solidFill>
                  <a:srgbClr val="202836"/>
                </a:solidFill>
                <a:latin typeface="Calibri"/>
              </a:rPr>
              <a:t>without class context.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Patterns outside the catalog. </a:t>
            </a:r>
            <a:r>
              <a:rPr sz="1400">
                <a:solidFill>
                  <a:srgbClr val="202836"/>
                </a:solidFill>
                <a:latin typeface="Calibri"/>
              </a:rPr>
              <a:t>no claim of generality.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Runtime tracing. </a:t>
            </a:r>
            <a:r>
              <a:rPr sz="1400">
                <a:solidFill>
                  <a:srgbClr val="202836"/>
                </a:solidFill>
                <a:latin typeface="Calibri"/>
              </a:rPr>
              <a:t>verdict is structural, not behavioural.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Cross-service integration. </a:t>
            </a:r>
            <a:r>
              <a:rPr sz="1400">
                <a:solidFill>
                  <a:srgbClr val="202836"/>
                </a:solidFill>
                <a:latin typeface="Calibri"/>
              </a:rPr>
              <a:t>for user-submitted code.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End-to-end user-flow testing. </a:t>
            </a:r>
            <a:r>
              <a:rPr sz="1400">
                <a:solidFill>
                  <a:srgbClr val="202836"/>
                </a:solidFill>
                <a:latin typeface="Calibri"/>
              </a:rPr>
              <a:t>for a class snippet.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Languages other than C++. </a:t>
            </a:r>
            <a:r>
              <a:rPr sz="1400">
                <a:solidFill>
                  <a:srgbClr val="202836"/>
                </a:solidFill>
                <a:latin typeface="Calibri"/>
              </a:rPr>
              <a:t>Java/Python/C# left for future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Conceptual Framework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1 — Section 1.6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56616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1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566160" cy="502920"/>
          </a:xfrm>
          <a:prstGeom prst="rect">
            <a:avLst/>
          </a:prstGeom>
          <a:solidFill>
            <a:srgbClr val="14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Pasted C++ snippet, file, or multi-file upload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Pattern catalog (token + structural ladder)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DEVCON Luzon intern profile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Expert evaluator profile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920240"/>
            <a:ext cx="356616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1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920240"/>
            <a:ext cx="3566160" cy="502920"/>
          </a:xfrm>
          <a:prstGeom prst="rect">
            <a:avLst/>
          </a:prstGeom>
          <a:solidFill>
            <a:srgbClr val="14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Lexical scan &amp; tokenisation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Virtual structural-copy construction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Pattern dispatch (specificity ladder)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Evidence binding &amp; content hash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Documentation + test-scaffold synthesis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AI explanation grounded on verdicts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920240"/>
            <a:ext cx="356616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1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920240"/>
            <a:ext cx="3566160" cy="502920"/>
          </a:xfrm>
          <a:prstGeom prst="rect">
            <a:avLst/>
          </a:prstGeom>
          <a:solidFill>
            <a:srgbClr val="14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56032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Detected pattern verdicts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Bound code-evidence with highlights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Beginner-friendly documentation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Pre-templated unit tests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KPI + confusion-matrix metrics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41C2A"/>
                </a:solidFill>
              </a:rPr>
              <a:t>•  </a:t>
            </a:r>
            <a:r>
              <a:rPr sz="1300">
                <a:solidFill>
                  <a:srgbClr val="202836"/>
                </a:solidFill>
                <a:latin typeface="Calibri"/>
              </a:rPr>
              <a:t>Saved analysis runs for research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06240" y="3886200"/>
            <a:ext cx="320040" cy="365760"/>
          </a:xfrm>
          <a:prstGeom prst="rightArrow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909560" y="3886200"/>
            <a:ext cx="320040" cy="365760"/>
          </a:xfrm>
          <a:prstGeom prst="rightArrow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Methodology — Use Case Diagram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3 — Section 3.4.4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diNeo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45717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C8D0DC"/>
                </a:solidFill>
                <a:latin typeface="Calibri"/>
              </a:rPr>
              <a:t>Figure 5. CodiNeo Use Case Diagram (Learner, Developer, Admin actors with include/extend relations)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Methodology — Activity Diagram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3 — Section 3.4.3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0DC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i="1">
                <a:solidFill>
                  <a:srgbClr val="C8D0DC"/>
                </a:solidFill>
                <a:latin typeface="Calibri"/>
              </a:rPr>
              <a:t>[ Insert Activity Diagram here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●  </a:t>
            </a:r>
            <a:r>
              <a:rPr sz="1300" b="1">
                <a:solidFill>
                  <a:srgbClr val="141C2A"/>
                </a:solidFill>
                <a:latin typeface="Calibri"/>
              </a:rPr>
              <a:t>Login &amp; route. </a:t>
            </a:r>
            <a:r>
              <a:rPr sz="1300">
                <a:solidFill>
                  <a:srgbClr val="202836"/>
                </a:solidFill>
                <a:latin typeface="Calibri"/>
              </a:rPr>
              <a:t>Learner / Developer / Admin enter their pathway.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●  </a:t>
            </a:r>
            <a:r>
              <a:rPr sz="1300" b="1">
                <a:solidFill>
                  <a:srgbClr val="141C2A"/>
                </a:solidFill>
                <a:latin typeface="Calibri"/>
              </a:rPr>
              <a:t>Learner side. </a:t>
            </a:r>
            <a:r>
              <a:rPr sz="1300">
                <a:solidFill>
                  <a:srgbClr val="202836"/>
                </a:solidFill>
                <a:latin typeface="Calibri"/>
              </a:rPr>
              <a:t>Browse modules → study → cross-over to Studio.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●  </a:t>
            </a:r>
            <a:r>
              <a:rPr sz="1300" b="1">
                <a:solidFill>
                  <a:srgbClr val="141C2A"/>
                </a:solidFill>
                <a:latin typeface="Calibri"/>
              </a:rPr>
              <a:t>Developer side. </a:t>
            </a:r>
            <a:r>
              <a:rPr sz="1300">
                <a:solidFill>
                  <a:srgbClr val="202836"/>
                </a:solidFill>
                <a:latin typeface="Calibri"/>
              </a:rPr>
              <a:t>Submit C++ → validate → analyse → bind evidence → render.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●  </a:t>
            </a:r>
            <a:r>
              <a:rPr sz="1300" b="1">
                <a:solidFill>
                  <a:srgbClr val="141C2A"/>
                </a:solidFill>
                <a:latin typeface="Calibri"/>
              </a:rPr>
              <a:t>Save &amp; feedback. </a:t>
            </a:r>
            <a:r>
              <a:rPr sz="1300">
                <a:solidFill>
                  <a:srgbClr val="202836"/>
                </a:solidFill>
                <a:latin typeface="Calibri"/>
              </a:rPr>
              <a:t>Persist run, surveys, KPI.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●  </a:t>
            </a:r>
            <a:r>
              <a:rPr sz="1300" b="1">
                <a:solidFill>
                  <a:srgbClr val="141C2A"/>
                </a:solidFill>
                <a:latin typeface="Calibri"/>
              </a:rPr>
              <a:t>Admin side. </a:t>
            </a:r>
            <a:r>
              <a:rPr sz="1300">
                <a:solidFill>
                  <a:srgbClr val="202836"/>
                </a:solidFill>
                <a:latin typeface="Calibri"/>
              </a:rPr>
              <a:t>Monitor runs, KPI, confusion matrix, exports.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Methodology — Class Diagram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3 — Section 3.4.5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0DC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i="1">
                <a:solidFill>
                  <a:srgbClr val="C8D0DC"/>
                </a:solidFill>
                <a:latin typeface="Calibri"/>
              </a:rPr>
              <a:t>[ Insert Class Diagram here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●  </a:t>
            </a:r>
            <a:r>
              <a:rPr sz="1300" b="1">
                <a:solidFill>
                  <a:srgbClr val="141C2A"/>
                </a:solidFill>
                <a:latin typeface="Calibri"/>
              </a:rPr>
              <a:t>User / TesterAccount. </a:t>
            </a:r>
            <a:r>
              <a:rPr sz="1300">
                <a:solidFill>
                  <a:srgbClr val="202836"/>
                </a:solidFill>
                <a:latin typeface="Calibri"/>
              </a:rPr>
              <a:t>Login, role, session.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●  </a:t>
            </a:r>
            <a:r>
              <a:rPr sz="1300" b="1">
                <a:solidFill>
                  <a:srgbClr val="141C2A"/>
                </a:solidFill>
                <a:latin typeface="Calibri"/>
              </a:rPr>
              <a:t>LearningModule. </a:t>
            </a:r>
            <a:r>
              <a:rPr sz="1300">
                <a:solidFill>
                  <a:srgbClr val="202836"/>
                </a:solidFill>
                <a:latin typeface="Calibri"/>
              </a:rPr>
              <a:t>Pattern lessons &amp; self-check.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●  </a:t>
            </a:r>
            <a:r>
              <a:rPr sz="1300" b="1">
                <a:solidFill>
                  <a:srgbClr val="141C2A"/>
                </a:solidFill>
                <a:latin typeface="Calibri"/>
              </a:rPr>
              <a:t>AnalysisRun. </a:t>
            </a:r>
            <a:r>
              <a:rPr sz="1300">
                <a:solidFill>
                  <a:srgbClr val="202836"/>
                </a:solidFill>
                <a:latin typeface="Calibri"/>
              </a:rPr>
              <a:t>Submission, hash, verdicts.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●  </a:t>
            </a:r>
            <a:r>
              <a:rPr sz="1300" b="1">
                <a:solidFill>
                  <a:srgbClr val="141C2A"/>
                </a:solidFill>
                <a:latin typeface="Calibri"/>
              </a:rPr>
              <a:t>PatternEvidence. </a:t>
            </a:r>
            <a:r>
              <a:rPr sz="1300">
                <a:solidFill>
                  <a:srgbClr val="202836"/>
                </a:solidFill>
                <a:latin typeface="Calibri"/>
              </a:rPr>
              <a:t>Bound to code units &amp; lines.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●  </a:t>
            </a:r>
            <a:r>
              <a:rPr sz="1300" b="1">
                <a:solidFill>
                  <a:srgbClr val="141C2A"/>
                </a:solidFill>
                <a:latin typeface="Calibri"/>
              </a:rPr>
              <a:t>DocumentationOutput. </a:t>
            </a:r>
            <a:r>
              <a:rPr sz="1300">
                <a:solidFill>
                  <a:srgbClr val="202836"/>
                </a:solidFill>
                <a:latin typeface="Calibri"/>
              </a:rPr>
              <a:t>Grounded on PatternEvidence.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●  </a:t>
            </a:r>
            <a:r>
              <a:rPr sz="1300" b="1">
                <a:solidFill>
                  <a:srgbClr val="141C2A"/>
                </a:solidFill>
                <a:latin typeface="Calibri"/>
              </a:rPr>
              <a:t>TestScaffold. </a:t>
            </a:r>
            <a:r>
              <a:rPr sz="1300">
                <a:solidFill>
                  <a:srgbClr val="202836"/>
                </a:solidFill>
                <a:latin typeface="Calibri"/>
              </a:rPr>
              <a:t>GoogleTest template instance.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●  </a:t>
            </a:r>
            <a:r>
              <a:rPr sz="1300" b="1">
                <a:solidFill>
                  <a:srgbClr val="141C2A"/>
                </a:solidFill>
                <a:latin typeface="Calibri"/>
              </a:rPr>
              <a:t>KPIRecord / ConfusionEntry. </a:t>
            </a:r>
            <a:r>
              <a:rPr sz="1300">
                <a:solidFill>
                  <a:srgbClr val="202836"/>
                </a:solidFill>
                <a:latin typeface="Calibri"/>
              </a:rPr>
              <a:t>Research-grade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Algorithm — Hash-Based Virtual Structural Copy Pipeline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3 — Section 3.4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9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41C2A"/>
                </a:solidFill>
                <a:latin typeface="Calibri"/>
              </a:rPr>
              <a:t>1. Source-code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82880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9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41C2A"/>
                </a:solidFill>
                <a:latin typeface="Calibri"/>
              </a:rPr>
              <a:t>2. Input validation (backend)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82880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9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41C2A"/>
                </a:solidFill>
                <a:latin typeface="Calibri"/>
              </a:rPr>
              <a:t>3. Lexical scanning (microservice)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82880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9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41C2A"/>
                </a:solidFill>
                <a:latin typeface="Calibri"/>
              </a:rPr>
              <a:t>4. Virtual structural-copy construction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182880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9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41C2A"/>
                </a:solidFill>
                <a:latin typeface="Calibri"/>
              </a:rPr>
              <a:t>5. Pattern dispatch (specificity ladder)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9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41C2A"/>
                </a:solidFill>
                <a:latin typeface="Calibri"/>
              </a:rPr>
              <a:t>6. Evidence binding to code units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65760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9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41C2A"/>
                </a:solidFill>
                <a:latin typeface="Calibri"/>
              </a:rPr>
              <a:t>7. Hash &amp; link analysis (content-addressed)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65760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9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41C2A"/>
                </a:solidFill>
                <a:latin typeface="Calibri"/>
              </a:rPr>
              <a:t>8. Documentation + test-target preparation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365760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9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41C2A"/>
                </a:solidFill>
                <a:latin typeface="Calibri"/>
              </a:rPr>
              <a:t>9. Structured JSON report 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365760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9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41C2A"/>
                </a:solidFill>
                <a:latin typeface="Calibri"/>
              </a:rPr>
              <a:t>10. Frontend presentation (cards + evidence + tests)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202836"/>
                </a:solidFill>
                <a:latin typeface="Calibri"/>
              </a:rPr>
              <a:t>Deterministic detector — verdicts are reproducible. AI explanation is grounded on bound evidence and cannot override the detector.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Algorithm — Time &amp; Space Complexity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3 — Sections 3.4.1 / 3.4.2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F9CF5"/>
                </a:solidFill>
                <a:latin typeface="Calibri"/>
              </a:rPr>
              <a:t>Time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Lexical scan: </a:t>
            </a:r>
            <a:r>
              <a:rPr sz="1400">
                <a:solidFill>
                  <a:srgbClr val="202836"/>
                </a:solidFill>
                <a:latin typeface="Calibri"/>
              </a:rPr>
              <a:t>O(N)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Structural copy: </a:t>
            </a:r>
            <a:r>
              <a:rPr sz="1400">
                <a:solidFill>
                  <a:srgbClr val="202836"/>
                </a:solidFill>
                <a:latin typeface="Calibri"/>
              </a:rPr>
              <a:t>O(N)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Pattern dispatch: </a:t>
            </a:r>
            <a:r>
              <a:rPr sz="1400">
                <a:solidFill>
                  <a:srgbClr val="202836"/>
                </a:solidFill>
                <a:latin typeface="Calibri"/>
              </a:rPr>
              <a:t>O(N · P) → O(N) since P is fixed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Hash &amp; link: </a:t>
            </a:r>
            <a:r>
              <a:rPr sz="1400">
                <a:solidFill>
                  <a:srgbClr val="202836"/>
                </a:solidFill>
                <a:latin typeface="Calibri"/>
              </a:rPr>
              <a:t>O(N) average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Report generation: </a:t>
            </a:r>
            <a:r>
              <a:rPr sz="1400">
                <a:solidFill>
                  <a:srgbClr val="202836"/>
                </a:solidFill>
                <a:latin typeface="Calibri"/>
              </a:rPr>
              <a:t>O(N) bounded by evidence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Overall: </a:t>
            </a:r>
            <a:r>
              <a:rPr sz="1400">
                <a:solidFill>
                  <a:srgbClr val="202836"/>
                </a:solidFill>
                <a:latin typeface="Calibri"/>
              </a:rPr>
              <a:t>O(N) under prototype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F9CF5"/>
                </a:solidFill>
                <a:latin typeface="Calibri"/>
              </a:rPr>
              <a:t>Space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Token storage: </a:t>
            </a:r>
            <a:r>
              <a:rPr sz="1400">
                <a:solidFill>
                  <a:srgbClr val="202836"/>
                </a:solidFill>
                <a:latin typeface="Calibri"/>
              </a:rPr>
              <a:t>O(N)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Structural copy: </a:t>
            </a:r>
            <a:r>
              <a:rPr sz="1400">
                <a:solidFill>
                  <a:srgbClr val="202836"/>
                </a:solidFill>
                <a:latin typeface="Calibri"/>
              </a:rPr>
              <a:t>O(N)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Hash / link table: </a:t>
            </a:r>
            <a:r>
              <a:rPr sz="1400">
                <a:solidFill>
                  <a:srgbClr val="202836"/>
                </a:solidFill>
                <a:latin typeface="Calibri"/>
              </a:rPr>
              <a:t>O(K) ⊆ O(N)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Evidence + docs: </a:t>
            </a:r>
            <a:r>
              <a:rPr sz="1400">
                <a:solidFill>
                  <a:srgbClr val="202836"/>
                </a:solidFill>
                <a:latin typeface="Calibri"/>
              </a:rPr>
              <a:t>O(E + D) ⊆ O(N)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Overall: </a:t>
            </a:r>
            <a:r>
              <a:rPr sz="1400">
                <a:solidFill>
                  <a:srgbClr val="202836"/>
                </a:solidFill>
                <a:latin typeface="Calibri"/>
              </a:rPr>
              <a:t>O(N) under prototype scope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●  </a:t>
            </a:r>
            <a:r>
              <a:rPr sz="1400" b="1">
                <a:solidFill>
                  <a:srgbClr val="141C2A"/>
                </a:solidFill>
                <a:latin typeface="Calibri"/>
              </a:rPr>
              <a:t>Verification: </a:t>
            </a:r>
            <a:r>
              <a:rPr sz="1400">
                <a:solidFill>
                  <a:srgbClr val="202836"/>
                </a:solidFill>
                <a:latin typeface="Calibri"/>
              </a:rPr>
              <a:t>Algorithm evaluator + research statistician (3.8)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Respondent Profile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4 — Section 4.2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F9CF5"/>
                </a:solidFill>
                <a:latin typeface="Calibri"/>
              </a:rPr>
              <a:t>Intern Cohort (n = ___)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965960"/>
          <a:ext cx="54864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Year Level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Percentage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First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Second year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Third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Fourth year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Others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F9CF5"/>
                </a:solidFill>
                <a:latin typeface="Calibri"/>
              </a:rPr>
              <a:t>Professional Cohort (n = ___)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96596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Years of Experience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Percentage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5–7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8–10 years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11 years and above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035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C8D0DC"/>
                </a:solidFill>
                <a:latin typeface="Calibri"/>
              </a:rPr>
              <a:t>Table 10–12. Respondent profile by year level and years of experience. Values pending consolidated export.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Functional Suitability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4 — Section 4.3.1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6984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Intern Cohort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Professional Cohort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Combined Mean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Accuracy of code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Relevance of documentation outputs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Alignment of evidence with verdicts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Usefulness of unit-test targets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Weighted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C8D0DC"/>
                </a:solidFill>
                <a:latin typeface="Calibri"/>
              </a:rPr>
              <a:t>Table 14. Functional Suitability of CodiNeo. Likert 1–5. Verbal interpretation per Section 3.8.3.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1C2A"/>
                </a:solidFill>
                <a:latin typeface="Calibri"/>
              </a:rPr>
              <a:t>Interpretation. </a:t>
            </a:r>
            <a:r>
              <a:rPr sz="1300">
                <a:solidFill>
                  <a:srgbClr val="202836"/>
                </a:solidFill>
                <a:latin typeface="Calibri"/>
              </a:rPr>
              <a:t>Both cohorts assessed the system as performing its intended functions within the supported pattern catalog. Mean values, verbal interpretations, and per-question deviations will be populated from the consolidated questionnaire export.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Usability &amp; Performance Efficiency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4 — Sections 4.3.2 / 4.3.3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F9CF5"/>
                </a:solidFill>
                <a:latin typeface="Calibri"/>
              </a:rPr>
              <a:t>Usability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96596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Ease of understanding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Clarity of documentation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Learning-support effectiveness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Weighted Mean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F9CF5"/>
                </a:solidFill>
                <a:latin typeface="Calibri"/>
              </a:rPr>
              <a:t>Performance Efficiency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96596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Average processing time (ms)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Memory usage (MB)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Throughput (runs / 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Weighted Mean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C8D0DC"/>
                </a:solidFill>
                <a:latin typeface="Calibri"/>
              </a:rPr>
              <a:t>Tables 15–16. Likert means for usability; KPI measurements for performance. Values pending.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1C2A"/>
                </a:solidFill>
                <a:latin typeface="Calibri"/>
              </a:rPr>
              <a:t>Interpretation. </a:t>
            </a:r>
            <a:r>
              <a:rPr sz="1300">
                <a:solidFill>
                  <a:srgbClr val="202836"/>
                </a:solidFill>
                <a:latin typeface="Calibri"/>
              </a:rPr>
              <a:t>Usability is reported from intern-cohort responses; performance metrics are pulled directly from the system's KPI store during alpha-test runs. The two are reported as independent silos and are not combined.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Reliability &amp; Maintainability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4 — Sections 4.3.4 / 4.3.5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F9CF5"/>
                </a:solidFill>
                <a:latin typeface="Calibri"/>
              </a:rPr>
              <a:t>Reliability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96596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Consistency of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Error handling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Weighted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F9CF5"/>
                </a:solidFill>
                <a:latin typeface="Calibri"/>
              </a:rPr>
              <a:t>Maintainability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96596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Ease of extending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Code modularity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Weighted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297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C8D0DC"/>
                </a:solidFill>
                <a:latin typeface="Calibri"/>
              </a:rPr>
              <a:t>Tables 17–18. Reliability and Maintainability indicators (expert cohort). Values pending.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1C2A"/>
                </a:solidFill>
                <a:latin typeface="Calibri"/>
              </a:rPr>
              <a:t>Interpretation. </a:t>
            </a:r>
            <a:r>
              <a:rPr sz="1300">
                <a:solidFill>
                  <a:srgbClr val="202836"/>
                </a:solidFill>
                <a:latin typeface="Calibri"/>
              </a:rPr>
              <a:t>Reliability is interpreted strictly against result-consistency and error-handling behaviour during the evaluation period. Maintainability is interpreted against the layered microservices architecture documented in Section 3.4.6. Each is read on its 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Code Understanding &amp; Documentation Outputs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4 — Sections 4.4 / 4.5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9CF5"/>
                </a:solidFill>
                <a:latin typeface="Calibri"/>
              </a:rPr>
              <a:t>System Effectiveness in Code Understanding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9659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Understanding of code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Identification of key components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Comprehension of program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Weighted Mean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9CF5"/>
                </a:solidFill>
                <a:latin typeface="Calibri"/>
              </a:rPr>
              <a:t>Effectiveness of Documentation-Oriented Outputs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9659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Clarity of generated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Usefulness for learning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Alignment with code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Weighted Mean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C8D0DC"/>
                </a:solidFill>
                <a:latin typeface="Calibri"/>
              </a:rPr>
              <a:t>Tables 19–20. Code-understanding and documentation indicators. Values pending.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Pattern Detection &amp; KPI Metrics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4 — Sections 4.6 / 4.7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9CF5"/>
                </a:solidFill>
                <a:latin typeface="Calibri"/>
              </a:rPr>
              <a:t>Effectiveness of Design Pattern Detection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96596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Accuracy of pattern identification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Helpfulness in learning patterns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Weighted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9CF5"/>
                </a:solidFill>
                <a:latin typeface="Calibri"/>
              </a:rPr>
              <a:t>Quantitative KPI Metrics (Confusion Matrix)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9659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F1 Score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297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C8D0DC"/>
                </a:solidFill>
                <a:latin typeface="Calibri"/>
              </a:rPr>
              <a:t>Tables 21–22. Pattern-detection perception (Likert) and technical KPI (confusion-matrix derived). Values pending.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1C2A"/>
                </a:solidFill>
                <a:latin typeface="Calibri"/>
              </a:rPr>
              <a:t>Interpretation. </a:t>
            </a:r>
            <a:r>
              <a:rPr sz="1300">
                <a:solidFill>
                  <a:srgbClr val="202836"/>
                </a:solidFill>
                <a:latin typeface="Calibri"/>
              </a:rPr>
              <a:t>The perception metrics (left) describe how respondents experienced the detector. The technical KPIs (right) describe the detector itself, computed against the labelled ground-truth set held constant for every analysis run. The two are read independently.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Reliability of the Survey &amp; Summary of Findings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4 — Section 4.8 / Chapter 5 — Section 5.2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9CF5"/>
                </a:solidFill>
                <a:latin typeface="Calibri"/>
              </a:rPr>
              <a:t>Cronbach's Alpha (Survey Reliability)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965960"/>
          <a:ext cx="54864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Subscale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α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Functional Suitability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Usability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Performance 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Reliability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Maintainability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Whole survey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9CF5"/>
                </a:solidFill>
                <a:latin typeface="Calibri"/>
              </a:rPr>
              <a:t>Summary of Findings (ISO/IEC 25010)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965960"/>
          <a:ext cx="54864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Weighted Mean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Response</a:t>
                      </a:r>
                    </a:p>
                  </a:txBody>
                  <a:tcPr>
                    <a:solidFill>
                      <a:srgbClr val="141C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Functional Suitability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Usability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Performance 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Reliability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Maintainability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Total Average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836"/>
                          </a:solidFill>
                          <a:latin typeface="Calibri"/>
                        </a:rPr>
                        <a:t>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389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C8D0DC"/>
                </a:solidFill>
                <a:latin typeface="Calibri"/>
              </a:rPr>
              <a:t>Tables 23–24. Cronbach's α per subscale (target ≥ 0.70) and ISO/IEC 25010 summary. Values pending.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Conclusions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5 — Summary of Findings and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1. </a:t>
            </a:r>
            <a:r>
              <a:rPr sz="1600">
                <a:solidFill>
                  <a:srgbClr val="202836"/>
                </a:solidFill>
                <a:latin typeface="Calibri"/>
              </a:rPr>
              <a:t>CodiNeo provides a functionally suitable platform for deterministic detection of supported design-pattern evidence in submitted C++ source code, with documentation anchored to that evidence.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2. </a:t>
            </a:r>
            <a:r>
              <a:rPr sz="1600">
                <a:solidFill>
                  <a:srgbClr val="202836"/>
                </a:solidFill>
                <a:latin typeface="Calibri"/>
              </a:rPr>
              <a:t>The Hash-Based Virtual Structural Copy algorithm operates within linear time and linear space bounds, jointly supported by the algorithm evaluator's signed verification and the statistician's regression.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3. </a:t>
            </a:r>
            <a:r>
              <a:rPr sz="1600">
                <a:solidFill>
                  <a:srgbClr val="202836"/>
                </a:solidFill>
                <a:latin typeface="Calibri"/>
              </a:rPr>
              <a:t>Documentation-oriented outputs produced by the AI explanation layer, grounded on deterministic verdicts, are perceived as usefully aligned with the structural evidence they describe.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4. </a:t>
            </a:r>
            <a:r>
              <a:rPr sz="1600">
                <a:solidFill>
                  <a:srgbClr val="202836"/>
                </a:solidFill>
                <a:latin typeface="Calibri"/>
              </a:rPr>
              <a:t>The learner-to-developer pathway allows conceptual exposure to a pattern module to be followed by structural analysis of the learner's own C++ artefacts within the DEVCON Luzon context.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5. </a:t>
            </a:r>
            <a:r>
              <a:rPr sz="1600">
                <a:solidFill>
                  <a:srgbClr val="202836"/>
                </a:solidFill>
                <a:latin typeface="Calibri"/>
              </a:rPr>
              <a:t>The layered microservices architecture and the modular pattern catalog allow CodiNeo to be extended with additional design patterns without re-architecting the analyser.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568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2800" b="1">
                <a:solidFill>
                  <a:srgbClr val="141C2A"/>
                </a:solidFill>
                <a:latin typeface="Calibri"/>
              </a:rPr>
              <a:t>Recommendations</a:t>
            </a:r>
          </a:p>
          <a:p>
            <a:r>
              <a:rPr sz="1300" b="1">
                <a:solidFill>
                  <a:srgbClr val="4F9CF5"/>
                </a:solidFill>
                <a:latin typeface="Calibri"/>
              </a:rPr>
              <a:t>Chapter 6 —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Future researchers. </a:t>
            </a:r>
            <a:r>
              <a:rPr sz="1600">
                <a:solidFill>
                  <a:srgbClr val="202836"/>
                </a:solidFill>
                <a:latin typeface="Calibri"/>
              </a:rPr>
              <a:t>Expand the pattern catalog beyond the prototype set; repeat the empirical complexity study; port the algorithm to Java, Python, and C# to test generality.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Instructors &amp; DEVCON Luzon. </a:t>
            </a:r>
            <a:r>
              <a:rPr sz="1600">
                <a:solidFill>
                  <a:srgbClr val="202836"/>
                </a:solidFill>
                <a:latin typeface="Calibri"/>
              </a:rPr>
              <a:t>Integrate the learner pathway into the internship curriculum as a pre-requisite for the design-pattern unit.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Learners. </a:t>
            </a:r>
            <a:r>
              <a:rPr sz="1600">
                <a:solidFill>
                  <a:srgbClr val="202836"/>
                </a:solidFill>
                <a:latin typeface="Calibri"/>
              </a:rPr>
              <a:t>Submit one class or struct at a time when first learning a pattern so the analyser's verdict and bound evidence remain legible.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Maintainers &amp; contributors. </a:t>
            </a:r>
            <a:r>
              <a:rPr sz="1600">
                <a:solidFill>
                  <a:srgbClr val="202836"/>
                </a:solidFill>
                <a:latin typeface="Calibri"/>
              </a:rPr>
              <a:t>Keep the catalog as a specificity ladder; keep hashing over the virtual structural copy; keep the deterministic detector authoritative over the AI layer.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F9CF5"/>
                </a:solidFill>
                <a:latin typeface="Calibri"/>
              </a:rPr>
              <a:t>●  </a:t>
            </a:r>
            <a:r>
              <a:rPr sz="1600" b="1">
                <a:solidFill>
                  <a:srgbClr val="141C2A"/>
                </a:solidFill>
                <a:latin typeface="Calibri"/>
              </a:rPr>
              <a:t>Adopting institutions. </a:t>
            </a:r>
            <a:r>
              <a:rPr sz="1600">
                <a:solidFill>
                  <a:srgbClr val="202836"/>
                </a:solidFill>
                <a:latin typeface="Calibri"/>
              </a:rPr>
              <a:t>Run an independent algorithm-verification cycle (evaluator review + statistician regression) before using CodiNeo as a grading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C8D0DC"/>
                </a:solidFill>
                <a:latin typeface="Calibri"/>
              </a:rPr>
              <a:t>CodiNeo — A Documentation Generation System for Design Pattern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8D0D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54864"/>
          </a:xfrm>
          <a:prstGeom prst="rect">
            <a:avLst/>
          </a:prstGeom>
          <a:solidFill>
            <a:srgbClr val="4F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/>
            <a:r>
              <a:rPr sz="3200">
                <a:solidFill>
                  <a:srgbClr val="4F9CF5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